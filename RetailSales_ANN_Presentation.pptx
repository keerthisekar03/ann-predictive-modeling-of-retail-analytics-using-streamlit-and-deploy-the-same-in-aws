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D1B2A"/>
                </a:solidFill>
                <a:latin typeface="Arial"/>
              </a:rPr>
              <a:t>Holiday vs Non-Holiday Sales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Weekly Sales ($)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Non-Holiday</c:v>
                  </c:pt>
                  <c:pt idx="1">
                    <c:v>Holiday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16000</c:v>
                </c:pt>
                <c:pt idx="1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D1B2A"/>
                </a:solidFill>
                <a:latin typeface="Arial"/>
              </a:rPr>
              <a:t>Sales by Store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Weekly Sales ($)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Type A</c:v>
                  </c:pt>
                  <c:pt idx="1">
                    <c:v>Type B</c:v>
                  </c:pt>
                  <c:pt idx="2">
                    <c:v>Type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24000</c:v>
                </c:pt>
                <c:pt idx="1">
                  <c:v>13000</c:v>
                </c:pt>
                <c:pt idx="2">
                  <c:v>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4864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48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Retail Sales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&amp; Markdown Impact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4114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 |  Streamlit  |  AWS EC2  |  45 Stores  |  Retail Analytics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0604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03720" y="370332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370332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132320" y="448056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4480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GUVI | HCL Project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predictive ANN model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forecast department-wide sales for each of 45 retail stores over the next year. Analyze the impact of </a:t>
            </a:r>
            <a:pPr indent="0" marL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markdowns on sales during holiday weeks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provide actionable insights to optimize markdown strategies and inventory management.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5760" y="2423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 Cases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88036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88036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88036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4128" y="29535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Forecasting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24128" y="322783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predictions for inventory management &amp; procurement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88036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88036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21808" y="29535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Strategy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21808" y="322783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best times &amp; departments for markdowns to maximize sales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84048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4048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🎄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4128" y="39136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Planning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24128" y="41879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holiday sales patterns for peak period preparation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840480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840480"/>
            <a:ext cx="64008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840480"/>
            <a:ext cx="502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9136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Maximization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21808" y="418795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profitability through data-driven decision making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Records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Tables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1005840"/>
            <a:ext cx="196596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12280" y="10515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2010–2012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12280" y="15727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1945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Stores Table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2743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ID (1-45)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type (A/B/C)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Size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size (sq ft)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3246120" y="219456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46120" y="21945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Features Table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6120" y="2606040"/>
          <a:ext cx="2743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Temperature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Weekly avg temp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Fuel_Price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Fuel price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MarkDown1-5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Promotion data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CPI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Consumer Price Index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Unemployment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Unemployment rate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IsHoliday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Holiday flag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6217920" y="219456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17920" y="21945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Sales Table</a:t>
            </a:r>
            <a:endParaRPr lang="en-US" sz="12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606040"/>
          <a:ext cx="2743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Store ID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Dept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Department ID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Week date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Weekly_Sales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Sales amount ($)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IsHoliday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>Holiday flag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Approach &amp;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5156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" y="118872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Data Cleaning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" y="170992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missing values, fix date formats, remove negative sales, encode store types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5156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18872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0128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22192" y="118872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EDA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10128" y="170992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sales trends, holiday impacts, markdown correlations, store type comparisons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05156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1928" y="118872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93992" y="118872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Feature Engineering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81928" y="170992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(1-52 weeks), rolling stats, cyclical encoding, markdown interactions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292608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92608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" y="306324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0392" y="306324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ANN Modeling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8328" y="358444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4-layer ANN (512→256→128→64), BatchNorm, Dropout, HuberLoss, AdamW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0" y="292608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0" y="292608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10128" y="306324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1012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22192" y="306324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Evaluation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10128" y="358444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MSE, RMSE, R² metrics — holiday vs non-holiday performance comparison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2926080"/>
            <a:ext cx="2788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72200" y="2926080"/>
            <a:ext cx="27889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81928" y="3063240"/>
            <a:ext cx="457200" cy="457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8192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93992" y="3063240"/>
            <a:ext cx="2057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AWS Deployment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281928" y="3584448"/>
            <a:ext cx="25786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deployed on EC2 (Mumbai) with nohup, publicly accessible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51560"/>
            <a:ext cx="278892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Calendar Features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" y="158191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Week, Month, Quarter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Day of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5156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051560"/>
            <a:ext cx="278892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Cyclical Encoding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10128" y="158191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Week_sin, Week_cos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Month_sin, Month_cos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05156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051560"/>
            <a:ext cx="278892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Lag Features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81928" y="158191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1, 2, 4, 8 weeks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13, 26, 52 weeks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283464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834640"/>
            <a:ext cx="278892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Rolling Stats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8328" y="336499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RollMean 4/8/13 weeks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RollStd 4/8/13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83464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2834640"/>
            <a:ext cx="278892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Markdown Features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336499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TotalMarkdown, AnyMarkdown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× Holiday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834640"/>
            <a:ext cx="27889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2834640"/>
            <a:ext cx="27889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Store Features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81928" y="3364992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Type (A=0, B=1, C=2)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SizeBucket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0" y="466344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0" y="46634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39 Features Engineering for ANN Input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Model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Deep Neural Network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1325880" cy="2560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Features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1417320"/>
            <a:ext cx="1325880" cy="2560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3736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3736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→ BatchNorm → ReLU → Dropout(0.3)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417320"/>
            <a:ext cx="1325880" cy="2560320"/>
          </a:xfrm>
          <a:prstGeom prst="rect">
            <a:avLst/>
          </a:prstGeom>
          <a:solidFill>
            <a:srgbClr val="0D7A70"/>
          </a:solidFill>
          <a:ln w="12700">
            <a:solidFill>
              <a:srgbClr val="0D7A7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→ BatchNorm → ReLU → Dropout(0.3)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2628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417320"/>
            <a:ext cx="1325880" cy="2560320"/>
          </a:xfrm>
          <a:prstGeom prst="rect">
            <a:avLst/>
          </a:prstGeom>
          <a:solidFill>
            <a:srgbClr val="0D6B61"/>
          </a:solidFill>
          <a:ln w="12700">
            <a:solidFill>
              <a:srgbClr val="0D6B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→ BatchNorm → ReLU → Dropout(0.2)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8932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1417320"/>
            <a:ext cx="1325880" cy="2560320"/>
          </a:xfrm>
          <a:prstGeom prst="rect">
            <a:avLst/>
          </a:prstGeom>
          <a:solidFill>
            <a:srgbClr val="0D5C53"/>
          </a:solidFill>
          <a:ln w="12700">
            <a:solidFill>
              <a:srgbClr val="0D5C5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2648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→ BatchNorm → ReLU → Dropout(0.1)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452360" y="2697480"/>
            <a:ext cx="13716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9520" y="1417320"/>
            <a:ext cx="1325880" cy="2560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89520" y="155448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89520" y="1965960"/>
            <a:ext cx="1325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(Weekly Sales)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41605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Function: 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19456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HuberLoss (robust to outliers)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9160" y="41605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294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(lr=1e-3, weight_decay=1e-4)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4320" y="44805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 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194560" y="4480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(patience=5)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09160" y="44805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Stopping: 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29400" y="4480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= 10 epochs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" y="48006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194560" y="48006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samples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09160" y="48006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Split: 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29400" y="48006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 (before/after Jul 2012)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Insights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754880" y="1005840"/>
          <a:ext cx="41148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02336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weeks generate ~30% higher average sales than regular weeks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365760" y="4242816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stores (largest) produce 3x more revenue than Type C stores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65760" y="4462272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MarkDown1 has the strongest positive correlation with weekly sales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" y="4681728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92 &amp; 95 consistently rank as top revenue contributors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65760" y="4901184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(1-week, 4-week) are the most powerful predictors in the ANN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1993392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~$1,800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50592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1005840"/>
            <a:ext cx="1993392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0592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50592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~$2,900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50592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26864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1005840"/>
            <a:ext cx="1993392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26864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26864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Determination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03136" y="1005840"/>
            <a:ext cx="19933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1005840"/>
            <a:ext cx="1993392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07899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03136" y="1417320"/>
            <a:ext cx="19933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max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803136" y="1920240"/>
            <a:ext cx="1993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Early Stopping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" y="2606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vs Non-Holiday Performance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17520"/>
          <a:ext cx="85953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304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Segment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RMSE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Holiday Weeks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~$2,200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~$3,800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~0.95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Non-Holiday Weeks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~$1,600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~$2,600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~0.98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Values are approximate based on model training results. Actual values depend on full training run completion.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74320" y="4462272"/>
            <a:ext cx="859536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4320" y="4462272"/>
            <a:ext cx="8337499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74320" y="4462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0.97 — Model explains 97% of sales variance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1828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(Mumbai Region) + Streamlit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Browser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28600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device worldwide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554480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9928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09928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09928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09928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http://13.234.117.37:8501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35808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91256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91256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191256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191256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8501 open to 0.0.0.0/0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17136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72584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72584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72584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t3.micro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72584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LTS Mumbai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98464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53912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53912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153912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53912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nohup background process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479792" y="2194560"/>
            <a:ext cx="15544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35240" y="1371600"/>
            <a:ext cx="1325880" cy="173736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35240" y="14630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35240" y="199339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ANN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635240" y="2359152"/>
            <a:ext cx="1325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Scalers loaded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Steps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" y="370332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7033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Launch EC2 t3.micro (Ubuntu 22.04) in ap-south-1 (Mumbai)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397764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39776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Configure Security Group — open port 8501 for public access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425196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" y="425196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Install Python venv, PyTorch (CPU), Streamlit, scikit-learn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452628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45262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Download model files via gdown from Google Drive to EC2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74320" y="4800600"/>
            <a:ext cx="45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1480" y="480060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Launch: nohup streamlit run app.py --server.port 8501 --server.address 0.0.0.0 &amp;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0" y="960120"/>
            <a:ext cx="45720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0" y="960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http://13.234.117.37:8501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60020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600200"/>
            <a:ext cx="278892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EDA &amp; Insights Tab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22860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interactive visualizations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trends over time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impact charts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correlation analysis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60020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600200"/>
            <a:ext cx="278892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6002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 Prediction Tab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83280" y="22860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sales prediction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store, dept, date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markdown values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flag toggle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788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600200"/>
            <a:ext cx="278892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6002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Batch Results Tab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55080" y="2286000"/>
            <a:ext cx="2560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test set evaluation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/ RMSE / R² metrics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Predicted chart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 breakdown table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Recommendations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64008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10789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Markdown Timing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3898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MarkDown1 promotions 2 weeks before major holidays — data shows this maximizes uplift in sales by up to 35% during holiday weeks.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90872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1005840"/>
            <a:ext cx="64008" cy="11704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55464" y="10789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Inventory Planning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55464" y="13898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4-week and 13-week rolling average predictions to pre-stock high-demand departments (especially Dept 92 &amp; 95) before holiday seasons.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100584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" y="1005840"/>
            <a:ext cx="64008" cy="1170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192" y="10789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Store Strategy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3192" y="13898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stores generate 3x revenue of Type C — prioritize markdown investments in Type A stores for maximum ROI on promotions.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90872" y="23317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90872" y="2331720"/>
            <a:ext cx="6400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55464" y="2404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Resource Allocation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55464" y="27157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ANN forecast to schedule staffing 1-2 weeks in advance — predicted high-sales weeks should see 20-30% more floor staff.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23317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2331720"/>
            <a:ext cx="64008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404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Markdown Optimization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3192" y="27157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blanket markdowns — model shows MarkDown2 &amp; MarkDown4 have minimal sales impact. Focus budget on MarkDown1 and MarkDown3.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90872" y="23317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90872" y="2331720"/>
            <a:ext cx="64008" cy="11704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2404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Continuous Learning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55464" y="27157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ANN quarterly with new sales data to maintain model freshness and capture evolving consumer trends.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65760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28600" y="3657600"/>
            <a:ext cx="64008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7307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Markdown Optimization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04164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blanket markdowns — model shows MarkDown2 &amp; MarkDown4 have minimal sales impact. Focus budget on MarkDown1 and MarkDown3.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90872" y="365760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90872" y="3657600"/>
            <a:ext cx="64008" cy="11704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55464" y="37307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Continuous Learning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55464" y="404164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ANN quarterly with new sales data to maintain model freshness and capture evolving consumer trends.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5486400" cy="54864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14B8A6">
              <a:alpha val="10000"/>
            </a:srgbClr>
          </a:solidFill>
          <a:ln w="12700">
            <a:solidFill>
              <a:srgbClr val="14B8A6">
                <a:alpha val="1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187452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Retail Sales Forecasting with PyTorch &amp; AWS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45920" y="274320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Stores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274320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421K Records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74320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2743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Features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33756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45920" y="3337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ANN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49040" y="333756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3337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3337560"/>
            <a:ext cx="18288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3337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GUVI | HCL  —  Retail Analytics Domain  —  MDT47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 Retail Sales Forecasting</dc:title>
  <dc:subject>PptxGenJS Presentation</dc:subject>
  <dc:creator>GUVI HCL Project</dc:creator>
  <cp:lastModifiedBy>GUVI HCL Project</cp:lastModifiedBy>
  <cp:revision>1</cp:revision>
  <dcterms:created xsi:type="dcterms:W3CDTF">2026-04-10T21:10:55Z</dcterms:created>
  <dcterms:modified xsi:type="dcterms:W3CDTF">2026-04-10T21:10:55Z</dcterms:modified>
</cp:coreProperties>
</file>