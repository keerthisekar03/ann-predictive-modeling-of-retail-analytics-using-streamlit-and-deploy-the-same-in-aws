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Default Extension="xlsx" ContentType="application/vnd.openxmlformats-officedocument.spreadsheetml.sheet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9" r:id="rId9"/>
    <p:sldId id="262" r:id="rId10"/>
    <p:sldId id="263" r:id="rId11"/>
    <p:sldId id="264" r:id="rId12"/>
    <p:sldId id="270" r:id="rId13"/>
    <p:sldId id="265" r:id="rId14"/>
    <p:sldId id="266" r:id="rId15"/>
    <p:sldId id="26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-666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2A"/>
                </a:solidFill>
                <a:latin typeface="Arial"/>
              </a:rPr>
              <a:t>Holiday vs Non-Holiday Sales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Weekly Sales ($)</c:v>
                </c:pt>
              </c:strCache>
            </c:strRef>
          </c:tx>
          <c:spPr>
            <a:solidFill>
              <a:srgbClr val="0D9488"/>
            </a:solidFill>
            <a:effectLst/>
          </c:spPr>
          <c:dPt>
            <c:idx val="1"/>
            <c:spPr>
              <a:solidFill>
                <a:srgbClr val="F59E0B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Val val="1"/>
          </c:dLbls>
          <c:cat>
            <c:strRef>
              <c:f>Sheet1!$A$2:$A$3</c:f>
              <c:strCache>
                <c:ptCount val="2"/>
                <c:pt idx="0">
                  <c:v>Non-Holiday</c:v>
                </c:pt>
                <c:pt idx="1">
                  <c:v>Holiday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16000</c:v>
                </c:pt>
                <c:pt idx="1">
                  <c:v>21000</c:v>
                </c:pt>
              </c:numCache>
            </c:numRef>
          </c:val>
        </c:ser>
        <c:dLbls>
          <c:showVal val="1"/>
        </c:dLbls>
        <c:axId val="159809536"/>
        <c:axId val="159811072"/>
      </c:barChart>
      <c:catAx>
        <c:axId val="159809536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159811072"/>
        <c:crosses val="autoZero"/>
        <c:auto val="1"/>
        <c:lblAlgn val="ctr"/>
        <c:lblOffset val="100"/>
        <c:noMultiLvlLbl val="1"/>
      </c:catAx>
      <c:valAx>
        <c:axId val="159811072"/>
        <c:scaling>
          <c:orientation val="minMax"/>
        </c:scaling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1598095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2A"/>
                </a:solidFill>
                <a:latin typeface="Arial"/>
              </a:rPr>
              <a:t>Sales by Store Type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Weekly Sales ($)</c:v>
                </c:pt>
              </c:strCache>
            </c:strRef>
          </c:tx>
          <c:spPr>
            <a:solidFill>
              <a:srgbClr val="0D9488"/>
            </a:solidFill>
            <a:effectLst/>
          </c:spPr>
          <c:dPt>
            <c:idx val="1"/>
            <c:spPr>
              <a:solidFill>
                <a:srgbClr val="0891B2"/>
              </a:solidFill>
              <a:effectLst/>
            </c:spPr>
          </c:dPt>
          <c:dPt>
            <c:idx val="2"/>
            <c:spPr>
              <a:solidFill>
                <a:srgbClr val="7C3AED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Val val="1"/>
          </c:dLbls>
          <c:cat>
            <c:strRef>
              <c:f>Sheet1!$A$2:$A$4</c:f>
              <c:strCache>
                <c:ptCount val="3"/>
                <c:pt idx="0">
                  <c:v>Type A</c:v>
                </c:pt>
                <c:pt idx="1">
                  <c:v>Type B</c:v>
                </c:pt>
                <c:pt idx="2">
                  <c:v>Type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24000</c:v>
                </c:pt>
                <c:pt idx="1">
                  <c:v>13000</c:v>
                </c:pt>
                <c:pt idx="2">
                  <c:v>8000</c:v>
                </c:pt>
              </c:numCache>
            </c:numRef>
          </c:val>
        </c:ser>
        <c:dLbls>
          <c:showVal val="1"/>
        </c:dLbls>
        <c:axId val="160122752"/>
        <c:axId val="160124288"/>
      </c:barChart>
      <c:catAx>
        <c:axId val="160122752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160124288"/>
        <c:crosses val="autoZero"/>
        <c:auto val="1"/>
        <c:lblAlgn val="ctr"/>
        <c:lblOffset val="100"/>
        <c:noMultiLvlLbl val="1"/>
      </c:catAx>
      <c:valAx>
        <c:axId val="160124288"/>
        <c:scaling>
          <c:orientation val="minMax"/>
        </c:scaling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160122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2286000" cy="22860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4864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48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Retail Sales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&amp; Markdown Impact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4114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 |  Streamlit  |  AWS EC2  |  45 Stores  |  Retail Analytics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033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06040" y="37033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37033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7033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7033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03720" y="37033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37033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32320" y="448056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4480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| HCL 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1887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predictive ANN model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forecast department-wide sales for each of 45 retail stores over the next year. Analyze the impact of </a:t>
            </a: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markdowns on sales during holiday weeks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provide actionable insights to optimize markdown strategies and inventory management.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65760" y="2423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 Cases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88036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880360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88036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24128" y="29535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24128" y="322783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predictions for inventory management &amp; procurement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288036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880360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88036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🏷️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21808" y="29535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Strategy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21808" y="322783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best times &amp; departments for markdowns to maximize sales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840480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84048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🎄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24128" y="39136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Planning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4128" y="418795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holiday sales patterns for peak period preparation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384048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3840480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84048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21808" y="39136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Maximization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21808" y="418795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profitability through data-driven decision making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6596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1005840"/>
            <a:ext cx="196596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0515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421K+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14600" y="15727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Records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196596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0515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63440" y="15727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1005840"/>
            <a:ext cx="196596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0515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2010–2012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12280" y="15727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194560"/>
            <a:ext cx="2743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1945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Stores Table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274320" y="2606040"/>
          <a:ext cx="2743200" cy="9525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Store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Store ID (1-45)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Store type (A/B/C)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Size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Store size (sq ft)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3246120" y="2194560"/>
            <a:ext cx="2743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46120" y="21945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Features Table</a:t>
            </a:r>
            <a:endParaRPr lang="en-US" sz="12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3246120" y="2606040"/>
          <a:ext cx="2743200" cy="166116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Temperature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Weekly avg temp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Fuel_Price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Fuel price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MarkDown1-5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Promotion data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CPI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Consumer Price Index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Unemployment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Unemployment rate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IsHoliday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Holiday flag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2" name="Shape 18"/>
          <p:cNvSpPr/>
          <p:nvPr/>
        </p:nvSpPr>
        <p:spPr>
          <a:xfrm>
            <a:off x="6217920" y="2194560"/>
            <a:ext cx="2743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217920" y="21945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💵 Sales Table</a:t>
            </a:r>
            <a:endParaRPr lang="en-US" sz="1200" dirty="0"/>
          </a:p>
        </p:txBody>
      </p:sp>
      <p:graphicFrame>
        <p:nvGraphicFramePr>
          <p:cNvPr id="2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6217920" y="2606040"/>
          <a:ext cx="2743200" cy="142494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Store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Store ID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Dept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Department ID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Date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Week date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Weekly_Sales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Sales amount ($)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IsHoliday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Holiday flag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Approach &amp;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27889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" y="1188720"/>
            <a:ext cx="457200" cy="4572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" y="1188720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Data Cleaning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" y="1709928"/>
            <a:ext cx="25786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fix date formats, remove negative sales, encode store types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51560"/>
            <a:ext cx="27889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0128" y="1188720"/>
            <a:ext cx="457200" cy="4572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22192" y="1188720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EDA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0128" y="1709928"/>
            <a:ext cx="25786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sales trends, holiday impacts, markdown correlations, store type comparisons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105156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051560"/>
            <a:ext cx="27889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81928" y="1188720"/>
            <a:ext cx="457200" cy="4572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1928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93992" y="1188720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Feature Engineering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81928" y="1709928"/>
            <a:ext cx="25786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 (1-52 weeks), rolling stats, cyclical encoding, markdown interactions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" y="292608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926080"/>
            <a:ext cx="27889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" y="3063240"/>
            <a:ext cx="457200" cy="4572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0392" y="3063240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ANN Modeling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8328" y="3584448"/>
            <a:ext cx="25786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4-layer ANN (512→256→128→64), BatchNorm, Dropout, HuberLoss, AdamW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0" y="292608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926080"/>
            <a:ext cx="27889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10128" y="3063240"/>
            <a:ext cx="457200" cy="4572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22192" y="3063240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Evaluation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310128" y="3584448"/>
            <a:ext cx="25786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MSE, RMSE, R² metrics — holiday vs non-holiday performance comparison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72200" y="292608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2200" y="2926080"/>
            <a:ext cx="27889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81928" y="3063240"/>
            <a:ext cx="457200" cy="4572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81928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793992" y="3063240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AWS Deployment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81928" y="3584448"/>
            <a:ext cx="25786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deployed on EC2 (Mumbai) with nohup, publicly accessible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27889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Calendar Features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" y="1581912"/>
            <a:ext cx="257860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Week, Month, Quarter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Day of Year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51560"/>
            <a:ext cx="278892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Cyclical Encoding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0128" y="1581912"/>
            <a:ext cx="257860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Week_sin, Week_cos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Month_sin, Month_cos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051560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051560"/>
            <a:ext cx="278892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Lag Features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81928" y="1581912"/>
            <a:ext cx="257860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1, 2, 4, 8 weeks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13, 26, 52 weeks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834640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834640"/>
            <a:ext cx="278892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834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Rolling Stats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" y="3364992"/>
            <a:ext cx="257860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RollMean 4/8/13 weeks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RollStd 4/8/13 weeks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834640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834640"/>
            <a:ext cx="27889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834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Markdown Features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10128" y="3364992"/>
            <a:ext cx="257860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TotalMarkdown, AnyMarkdown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× Holiday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2834640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2834640"/>
            <a:ext cx="278892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834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Store Features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81928" y="3364992"/>
            <a:ext cx="257860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Type (A=0, B=1, C=2)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Size, SizeBucket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0" y="4663440"/>
            <a:ext cx="27432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0" y="46634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39 Features Engineering for ANN Input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33463" y="2042808"/>
            <a:ext cx="8667345" cy="2620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3463" y="1809344"/>
            <a:ext cx="8667344" cy="457201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ANN Input Features</a:t>
            </a:r>
            <a:r>
              <a:rPr lang="en-US" sz="1200" b="1" dirty="0" smtClean="0">
                <a:solidFill>
                  <a:schemeClr val="bg1"/>
                </a:solidFill>
              </a:rPr>
              <a:t> 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233463" y="2266544"/>
            <a:ext cx="8667343" cy="22470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 smtClean="0"/>
              <a:t>  Based on the dataset and project guidelines, the engineered inputs for ANN typically include:</a:t>
            </a:r>
          </a:p>
          <a:p>
            <a:endParaRPr lang="en-US" sz="1100" dirty="0" smtClean="0"/>
          </a:p>
          <a:p>
            <a:pPr>
              <a:buFont typeface="Arial" pitchFamily="34" charset="0"/>
              <a:buChar char="•"/>
            </a:pPr>
            <a:r>
              <a:rPr lang="en-US" sz="1100" b="1" dirty="0" smtClean="0"/>
              <a:t>  Time-Based Features</a:t>
            </a:r>
            <a:r>
              <a:rPr lang="en-US" sz="1100" dirty="0" smtClean="0"/>
              <a:t>: Month, Year, and Week of the year extracted from the Date column.</a:t>
            </a:r>
          </a:p>
          <a:p>
            <a:endParaRPr lang="en-US" sz="1100" dirty="0" smtClean="0"/>
          </a:p>
          <a:p>
            <a:pPr>
              <a:buFont typeface="Arial" pitchFamily="34" charset="0"/>
              <a:buChar char="•"/>
            </a:pPr>
            <a:r>
              <a:rPr lang="en-US" sz="1100" b="1" dirty="0" smtClean="0"/>
              <a:t>  Lag Features</a:t>
            </a:r>
            <a:r>
              <a:rPr lang="en-US" sz="1100" dirty="0" smtClean="0"/>
              <a:t>: Using sales figures from previous weeks to help the model predict future trends.</a:t>
            </a:r>
          </a:p>
          <a:p>
            <a:endParaRPr lang="en-US" sz="1100" dirty="0" smtClean="0"/>
          </a:p>
          <a:p>
            <a:pPr>
              <a:buFont typeface="Arial" pitchFamily="34" charset="0"/>
              <a:buChar char="•"/>
            </a:pPr>
            <a:r>
              <a:rPr lang="en-US" sz="1100" b="1" dirty="0" smtClean="0"/>
              <a:t>  Holiday Specifics</a:t>
            </a:r>
            <a:r>
              <a:rPr lang="en-US" sz="1100" dirty="0" smtClean="0"/>
              <a:t>: Indicators for key retail events like Super Bowl, Labor Day, Thanksgiving, and Christmas.</a:t>
            </a:r>
          </a:p>
          <a:p>
            <a:endParaRPr lang="en-US" sz="1100" dirty="0" smtClean="0"/>
          </a:p>
          <a:p>
            <a:pPr>
              <a:buFont typeface="Arial" pitchFamily="34" charset="0"/>
              <a:buChar char="•"/>
            </a:pPr>
            <a:r>
              <a:rPr lang="en-US" sz="1100" b="1" dirty="0" smtClean="0"/>
              <a:t>   Markdown Interactions</a:t>
            </a:r>
            <a:r>
              <a:rPr lang="en-US" sz="1100" dirty="0" smtClean="0"/>
              <a:t>: Features that combine MarkDown1-5 data with the Is Holiday status to quantify their impact during peak periods.</a:t>
            </a:r>
          </a:p>
          <a:p>
            <a:endParaRPr lang="en-US" sz="1100" dirty="0" smtClean="0"/>
          </a:p>
          <a:p>
            <a:pPr>
              <a:buFont typeface="Arial" pitchFamily="34" charset="0"/>
              <a:buChar char="•"/>
            </a:pPr>
            <a:r>
              <a:rPr lang="en-US" sz="1100" b="1" dirty="0" smtClean="0"/>
              <a:t>  Store &amp; Dept Information</a:t>
            </a:r>
            <a:r>
              <a:rPr lang="en-US" sz="1100" dirty="0" smtClean="0"/>
              <a:t>: Encoded versions of Store Type, Size, and Department numbers so the "digital brain" can distinguish between different  retail environments.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0" y="4663440"/>
            <a:ext cx="27432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0" y="46634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39 Features Engineering for ANN Input</a:t>
            </a:r>
            <a:endParaRPr lang="en-US" sz="1100" dirty="0"/>
          </a:p>
        </p:txBody>
      </p:sp>
      <p:sp>
        <p:nvSpPr>
          <p:cNvPr id="34" name="Text 8"/>
          <p:cNvSpPr/>
          <p:nvPr/>
        </p:nvSpPr>
        <p:spPr>
          <a:xfrm>
            <a:off x="233463" y="914400"/>
            <a:ext cx="8667344" cy="89494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r>
              <a:rPr lang="en-US" sz="1200" dirty="0" smtClean="0"/>
              <a:t>Feature engineering is the process of using domain knowledge to transform raw data into more meaningful variables (features) that help your neural network learn better</a:t>
            </a:r>
            <a:r>
              <a:rPr lang="en-US" sz="1200" b="1" dirty="0" smtClean="0">
                <a:solidFill>
                  <a:schemeClr val="bg1"/>
                </a:solidFill>
              </a:rPr>
              <a:t>. </a:t>
            </a:r>
            <a:r>
              <a:rPr lang="en-US" sz="1200" dirty="0" smtClean="0"/>
              <a:t>The goal is to simplify the data patterns for the </a:t>
            </a:r>
            <a:r>
              <a:rPr lang="en-US" sz="1200" b="1" dirty="0" smtClean="0"/>
              <a:t>ANN</a:t>
            </a:r>
            <a:r>
              <a:rPr lang="en-US" sz="1200" dirty="0" smtClean="0"/>
              <a:t>, allowing it to achieve lower error rates (MSE/RMSE) in sales predictions.</a:t>
            </a:r>
            <a:endParaRPr lang="en-US" sz="1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Model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2286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Deep Neural Network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325880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5544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965960"/>
            <a:ext cx="1325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900" dirty="0" smtClean="0">
                <a:solidFill>
                  <a:schemeClr val="bg1"/>
                </a:solidFill>
              </a:rPr>
              <a:t>Accepts the processed features such as Store, Dept, Is Holiday, Temperature, Fuel Price, CPI, Unemployment, and MarkDown1-5.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1600200" y="2697480"/>
            <a:ext cx="13716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1417320"/>
            <a:ext cx="1325880" cy="2560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37360" y="15544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 smtClean="0">
                <a:solidFill>
                  <a:schemeClr val="bg1"/>
                </a:solidFill>
              </a:rPr>
              <a:t>Hidden Layers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737360" y="1965960"/>
            <a:ext cx="1325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900" dirty="0" smtClean="0">
                <a:solidFill>
                  <a:schemeClr val="bg1"/>
                </a:solidFill>
              </a:rPr>
              <a:t>Usually 2 to 3 dense (fully connected) layers. These layers are responsible for "learning" how holiday markdowns specifically impact different store types.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063240" y="2697480"/>
            <a:ext cx="13716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417320"/>
            <a:ext cx="1325880" cy="2560320"/>
          </a:xfrm>
          <a:prstGeom prst="rect">
            <a:avLst/>
          </a:prstGeom>
          <a:solidFill>
            <a:srgbClr val="0D7A70"/>
          </a:solidFill>
          <a:ln w="12700">
            <a:solidFill>
              <a:srgbClr val="0D7A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15544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 smtClean="0">
                <a:solidFill>
                  <a:schemeClr val="bg1"/>
                </a:solidFill>
              </a:rPr>
              <a:t>Activation Functions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00400" y="1965960"/>
            <a:ext cx="1325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900" dirty="0" smtClean="0">
                <a:solidFill>
                  <a:schemeClr val="bg1"/>
                </a:solidFill>
              </a:rPr>
              <a:t>Most often uses </a:t>
            </a:r>
            <a:r>
              <a:rPr lang="en-US" sz="900" b="1" dirty="0" err="1" smtClean="0">
                <a:solidFill>
                  <a:schemeClr val="bg1"/>
                </a:solidFill>
              </a:rPr>
              <a:t>ReLU</a:t>
            </a:r>
            <a:r>
              <a:rPr lang="en-US" sz="900" dirty="0" smtClean="0">
                <a:solidFill>
                  <a:schemeClr val="bg1"/>
                </a:solidFill>
              </a:rPr>
              <a:t> (Rectified Linear Unit) for hidden layers to prevent the model from getting "stuck" during training, and a </a:t>
            </a:r>
            <a:r>
              <a:rPr lang="en-US" sz="900" b="1" dirty="0" smtClean="0">
                <a:solidFill>
                  <a:schemeClr val="bg1"/>
                </a:solidFill>
              </a:rPr>
              <a:t>Linear</a:t>
            </a:r>
            <a:r>
              <a:rPr lang="en-US" sz="900" dirty="0" smtClean="0">
                <a:solidFill>
                  <a:schemeClr val="bg1"/>
                </a:solidFill>
              </a:rPr>
              <a:t> activation for the output layer since this is a regression task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26280" y="2697480"/>
            <a:ext cx="13716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417320"/>
            <a:ext cx="1325880" cy="2560320"/>
          </a:xfrm>
          <a:prstGeom prst="rect">
            <a:avLst/>
          </a:prstGeom>
          <a:solidFill>
            <a:srgbClr val="0D6B61"/>
          </a:solidFill>
          <a:ln w="12700">
            <a:solidFill>
              <a:srgbClr val="0D6B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15544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 smtClean="0">
                <a:solidFill>
                  <a:schemeClr val="bg1"/>
                </a:solidFill>
              </a:rPr>
              <a:t>Optimizer &amp; Loss Function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663440" y="1965960"/>
            <a:ext cx="1325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b="1" dirty="0" smtClean="0">
                <a:solidFill>
                  <a:schemeClr val="bg1"/>
                </a:solidFill>
              </a:rPr>
              <a:t>Optimizer</a:t>
            </a:r>
            <a:r>
              <a:rPr lang="en-US" sz="900" dirty="0" smtClean="0">
                <a:solidFill>
                  <a:schemeClr val="bg1"/>
                </a:solidFill>
              </a:rPr>
              <a:t>:  Typically </a:t>
            </a:r>
            <a:r>
              <a:rPr lang="en-US" sz="900" b="1" dirty="0" smtClean="0">
                <a:solidFill>
                  <a:schemeClr val="bg1"/>
                </a:solidFill>
              </a:rPr>
              <a:t>Adam</a:t>
            </a:r>
            <a:r>
              <a:rPr lang="en-US" sz="900" dirty="0" smtClean="0">
                <a:solidFill>
                  <a:schemeClr val="bg1"/>
                </a:solidFill>
              </a:rPr>
              <a:t> or </a:t>
            </a:r>
            <a:r>
              <a:rPr lang="en-US" sz="900" b="1" dirty="0" smtClean="0">
                <a:solidFill>
                  <a:schemeClr val="bg1"/>
                </a:solidFill>
              </a:rPr>
              <a:t>RMSprop</a:t>
            </a:r>
            <a:r>
              <a:rPr lang="en-US" sz="900" dirty="0" smtClean="0">
                <a:solidFill>
                  <a:schemeClr val="bg1"/>
                </a:solidFill>
              </a:rPr>
              <a:t> to efficiently adjust the weights.</a:t>
            </a:r>
          </a:p>
          <a:p>
            <a:endParaRPr lang="en-US" sz="900" dirty="0" smtClean="0">
              <a:solidFill>
                <a:schemeClr val="bg1"/>
              </a:solidFill>
            </a:endParaRPr>
          </a:p>
          <a:p>
            <a:r>
              <a:rPr lang="en-US" sz="900" b="1" dirty="0" smtClean="0">
                <a:solidFill>
                  <a:schemeClr val="bg1"/>
                </a:solidFill>
              </a:rPr>
              <a:t>Loss Function</a:t>
            </a:r>
            <a:r>
              <a:rPr lang="en-US" sz="900" dirty="0" smtClean="0">
                <a:solidFill>
                  <a:schemeClr val="bg1"/>
                </a:solidFill>
              </a:rPr>
              <a:t>:  Uses </a:t>
            </a:r>
            <a:r>
              <a:rPr lang="en-US" sz="900" b="1" dirty="0" smtClean="0">
                <a:solidFill>
                  <a:schemeClr val="bg1"/>
                </a:solidFill>
              </a:rPr>
              <a:t>Mean Squared Error (MSE)</a:t>
            </a:r>
            <a:r>
              <a:rPr lang="en-US" sz="900" dirty="0" smtClean="0">
                <a:solidFill>
                  <a:schemeClr val="bg1"/>
                </a:solidFill>
              </a:rPr>
              <a:t> or </a:t>
            </a:r>
            <a:r>
              <a:rPr lang="en-US" sz="900" b="1" dirty="0" smtClean="0">
                <a:solidFill>
                  <a:schemeClr val="bg1"/>
                </a:solidFill>
              </a:rPr>
              <a:t>Mean Absolute Error (MAE)</a:t>
            </a:r>
            <a:r>
              <a:rPr lang="en-US" sz="900" dirty="0" smtClean="0">
                <a:solidFill>
                  <a:schemeClr val="bg1"/>
                </a:solidFill>
              </a:rPr>
              <a:t> to measure how far the predictions are from the actual sales during training.</a:t>
            </a:r>
          </a:p>
          <a:p>
            <a:pPr marL="0" indent="0" algn="ctr">
              <a:buNone/>
            </a:pP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989320" y="2697480"/>
            <a:ext cx="13716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1417320"/>
            <a:ext cx="1325880" cy="2560320"/>
          </a:xfrm>
          <a:prstGeom prst="rect">
            <a:avLst/>
          </a:prstGeom>
          <a:solidFill>
            <a:srgbClr val="0D5C53"/>
          </a:solidFill>
          <a:ln w="12700">
            <a:solidFill>
              <a:srgbClr val="0D5C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26480" y="15544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 smtClean="0">
                <a:solidFill>
                  <a:schemeClr val="bg1"/>
                </a:solidFill>
              </a:rPr>
              <a:t>Dropout Layers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126480" y="1965960"/>
            <a:ext cx="1325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900" dirty="0" smtClean="0">
                <a:solidFill>
                  <a:schemeClr val="bg1"/>
                </a:solidFill>
              </a:rPr>
              <a:t>Used to prevent "</a:t>
            </a:r>
            <a:r>
              <a:rPr lang="en-US" sz="900" b="1" dirty="0" err="1" smtClean="0">
                <a:solidFill>
                  <a:schemeClr val="bg1"/>
                </a:solidFill>
              </a:rPr>
              <a:t>overfitting</a:t>
            </a:r>
            <a:r>
              <a:rPr lang="en-US" sz="900" dirty="0" smtClean="0">
                <a:solidFill>
                  <a:schemeClr val="bg1"/>
                </a:solidFill>
              </a:rPr>
              <a:t>," ensuring the model performs well on new, unseen data rather than just memorizing the historical records.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452360" y="2697480"/>
            <a:ext cx="13716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89520" y="1417320"/>
            <a:ext cx="1325880" cy="2560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89520" y="15544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89520" y="1965960"/>
            <a:ext cx="1325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(Weekly Sales</a:t>
            </a:r>
            <a:r>
              <a:rPr lang="en-US" sz="900" b="1" dirty="0" smtClean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0" indent="0" algn="ctr">
              <a:buNone/>
            </a:pPr>
            <a:endParaRPr lang="en-US" sz="900" dirty="0" smtClean="0">
              <a:solidFill>
                <a:srgbClr val="E2E8F0"/>
              </a:solidFill>
              <a:latin typeface="Calibri" pitchFamily="34" charset="0"/>
              <a:cs typeface="Calibri" pitchFamily="34" charset="-120"/>
            </a:endParaRPr>
          </a:p>
          <a:p>
            <a:pPr algn="ctr"/>
            <a:r>
              <a:rPr lang="en-US" sz="900" dirty="0" smtClean="0"/>
              <a:t>The </a:t>
            </a:r>
            <a:r>
              <a:rPr lang="en-US" sz="900" b="1" dirty="0" smtClean="0"/>
              <a:t>Output Layer</a:t>
            </a:r>
            <a:r>
              <a:rPr lang="en-US" sz="900" dirty="0" smtClean="0"/>
              <a:t> consists of a single neuron with a linear activation function to provide the final continuous numerical value for the sales forecast.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4160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Function: 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194560" y="4160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HuberLoss (robust to outliers)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09160" y="4160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629400" y="4160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(lr=1e-3, weight_decay=1e-4)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74320" y="4480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Scheduler: 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194560" y="4480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(patience=5)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09160" y="4480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Stopping: 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629400" y="4480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= 10 epochs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74320" y="4800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 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194560" y="4800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samples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09160" y="4800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Split: 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629400" y="4800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(before/after Jul 2012)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Model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2286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Deep Neural Network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325880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5544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2431914"/>
            <a:ext cx="1325880" cy="13628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Features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00200" y="2697480"/>
            <a:ext cx="13716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1417320"/>
            <a:ext cx="1325880" cy="2560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37360" y="15544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431914"/>
            <a:ext cx="1325880" cy="1362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→ BatchNorm → ReLU → Dropout(0.3)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63240" y="2697480"/>
            <a:ext cx="13716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417320"/>
            <a:ext cx="1325880" cy="2560320"/>
          </a:xfrm>
          <a:prstGeom prst="rect">
            <a:avLst/>
          </a:prstGeom>
          <a:solidFill>
            <a:srgbClr val="0D7A70"/>
          </a:solidFill>
          <a:ln w="12700">
            <a:solidFill>
              <a:srgbClr val="0D7A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15544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2431914"/>
            <a:ext cx="1325880" cy="1362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→ BatchNorm → ReLU → Dropout(0.3)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26280" y="2697480"/>
            <a:ext cx="13716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417320"/>
            <a:ext cx="1325880" cy="2560320"/>
          </a:xfrm>
          <a:prstGeom prst="rect">
            <a:avLst/>
          </a:prstGeom>
          <a:solidFill>
            <a:srgbClr val="0D6B61"/>
          </a:solidFill>
          <a:ln w="12700">
            <a:solidFill>
              <a:srgbClr val="0D6B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15544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2431914"/>
            <a:ext cx="1325880" cy="1362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→ BatchNorm → ReLU → Dropout(0.2)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89320" y="2697480"/>
            <a:ext cx="13716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1417320"/>
            <a:ext cx="1325880" cy="2560320"/>
          </a:xfrm>
          <a:prstGeom prst="rect">
            <a:avLst/>
          </a:prstGeom>
          <a:solidFill>
            <a:srgbClr val="0D5C53"/>
          </a:solidFill>
          <a:ln w="12700">
            <a:solidFill>
              <a:srgbClr val="0D5C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26480" y="15544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0" y="2431914"/>
            <a:ext cx="1325880" cy="1362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→ BatchNorm → ReLU → Dropout(0.1)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452360" y="2697480"/>
            <a:ext cx="13716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89520" y="1417320"/>
            <a:ext cx="1325880" cy="2560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89520" y="15544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89520" y="2431914"/>
            <a:ext cx="1325880" cy="1362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(Weekly Sales)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" y="4182894"/>
            <a:ext cx="8641080" cy="797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 smtClean="0">
                <a:solidFill>
                  <a:schemeClr val="bg1"/>
                </a:solidFill>
              </a:rPr>
              <a:t>Simple </a:t>
            </a:r>
            <a:r>
              <a:rPr lang="en-US" sz="1050" b="1" dirty="0" smtClean="0">
                <a:solidFill>
                  <a:schemeClr val="bg1"/>
                </a:solidFill>
              </a:rPr>
              <a:t>Example</a:t>
            </a:r>
          </a:p>
          <a:p>
            <a:endParaRPr lang="en-US" sz="1050" b="1" dirty="0" smtClean="0">
              <a:solidFill>
                <a:schemeClr val="bg1"/>
              </a:solidFill>
            </a:endParaRPr>
          </a:p>
          <a:p>
            <a:r>
              <a:rPr lang="en-US" sz="1050" dirty="0" smtClean="0">
                <a:solidFill>
                  <a:schemeClr val="bg1"/>
                </a:solidFill>
              </a:rPr>
              <a:t>Think of the architecture like a </a:t>
            </a:r>
            <a:r>
              <a:rPr lang="en-US" sz="1050" b="1" dirty="0" smtClean="0">
                <a:solidFill>
                  <a:schemeClr val="bg1"/>
                </a:solidFill>
              </a:rPr>
              <a:t>filtering system</a:t>
            </a:r>
            <a:r>
              <a:rPr lang="en-US" sz="1050" dirty="0" smtClean="0">
                <a:solidFill>
                  <a:schemeClr val="bg1"/>
                </a:solidFill>
              </a:rPr>
              <a:t>: the raw data (like a 20% discount on a rainy Tuesday) enters at the top, passes through various "filters" (hidden layers) that weigh the importance of each factor, and comes out the bottom as a specific dollar prediction (e.g., "$15,400 in sales").</a:t>
            </a:r>
          </a:p>
          <a:p>
            <a:pPr marL="0" indent="0">
              <a:buNone/>
            </a:pPr>
            <a:r>
              <a:rPr lang="en-US" sz="1050" b="1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Insights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0584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754880" y="100584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703320"/>
            <a:ext cx="859536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3703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65760" y="402336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weeks generate ~30% higher average sales than regular weeks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65760" y="4242816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stores (largest) produce 3x more revenue than Type C stores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65760" y="4462272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MarkDown1 has the strongest positive correlation with weekly sales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65760" y="4681728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92 &amp; 95 consistently rank as top revenue contributors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 (1-week, 4-week) are the most powerful predictors in the ANN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933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993392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7899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~$1,800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50592" y="1005840"/>
            <a:ext cx="19933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1005840"/>
            <a:ext cx="1993392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107899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50592" y="141732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~$2,900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50592" y="192024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26864" y="1005840"/>
            <a:ext cx="19933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1005840"/>
            <a:ext cx="1993392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107899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26864" y="141732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~0.97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26864" y="192024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Determination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03136" y="1005840"/>
            <a:ext cx="19933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1005840"/>
            <a:ext cx="1993392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107899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03136" y="141732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max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803136" y="192024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Early Stopping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4320" y="2606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vs Non-Holiday Performance</a:t>
            </a:r>
            <a:endParaRPr lang="en-US" sz="15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274320" y="3017520"/>
          <a:ext cx="85953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Segment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Holiday Weeks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~$2,200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~$3,800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~0.95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Non-Holiday Weeks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~$1,600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~$2,600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~0.98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274320" y="40690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Values are approximate based on model training results. Actual values depend on full training run completion.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74320" y="4462272"/>
            <a:ext cx="859536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74320" y="4462272"/>
            <a:ext cx="8337499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74320" y="446227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0.97 — Model explains 97% of sales variance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Deployment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1828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52152" y="340468"/>
            <a:ext cx="474320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(Mumbai Region) + Streamlit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74320" y="2704289"/>
            <a:ext cx="8321038" cy="3373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 smtClean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Usage of AWS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0" y="3041645"/>
            <a:ext cx="9144000" cy="3727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0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 </a:t>
            </a:r>
            <a:r>
              <a:rPr lang="en-US" sz="1000" b="1" dirty="0" smtClean="0">
                <a:solidFill>
                  <a:schemeClr val="bg1"/>
                </a:solidFill>
              </a:rPr>
              <a:t>Accessibility</a:t>
            </a:r>
            <a:r>
              <a:rPr lang="en-US" sz="1000" dirty="0" smtClean="0">
                <a:solidFill>
                  <a:schemeClr val="bg1"/>
                </a:solidFill>
              </a:rPr>
              <a:t>: Instead of the code only working on your "D: Drive," deployment allows stakeholders or evaluators to access your model through a web browser </a:t>
            </a:r>
            <a:r>
              <a:rPr lang="en-US" sz="1000" dirty="0" smtClean="0">
                <a:solidFill>
                  <a:schemeClr val="bg1"/>
                </a:solidFill>
              </a:rPr>
              <a:t>from anywhere</a:t>
            </a:r>
            <a:r>
              <a:rPr lang="en-US" sz="1000" dirty="0" smtClean="0">
                <a:solidFill>
                  <a:schemeClr val="bg1"/>
                </a:solidFill>
              </a:rPr>
              <a:t>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0" y="3414408"/>
            <a:ext cx="9144000" cy="40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0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 </a:t>
            </a:r>
            <a:r>
              <a:rPr lang="en-US" sz="1000" b="1" dirty="0" smtClean="0">
                <a:solidFill>
                  <a:schemeClr val="bg1"/>
                </a:solidFill>
              </a:rPr>
              <a:t>Performance &amp; Reliability</a:t>
            </a:r>
            <a:r>
              <a:rPr lang="en-US" sz="1000" dirty="0" smtClean="0">
                <a:solidFill>
                  <a:schemeClr val="bg1"/>
                </a:solidFill>
              </a:rPr>
              <a:t>: AWS provides high-performance computing power that can handle the large-scale data processing required by your </a:t>
            </a:r>
            <a:r>
              <a:rPr lang="en-US" sz="1000" b="1" dirty="0" smtClean="0">
                <a:solidFill>
                  <a:schemeClr val="bg1"/>
                </a:solidFill>
              </a:rPr>
              <a:t>ANN</a:t>
            </a:r>
            <a:r>
              <a:rPr lang="en-US" sz="1000" dirty="0" smtClean="0">
                <a:solidFill>
                  <a:schemeClr val="bg1"/>
                </a:solidFill>
              </a:rPr>
              <a:t> more efficiently than a standard laptop.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0" y="38221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0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 </a:t>
            </a:r>
            <a:r>
              <a:rPr lang="en-US" sz="1000" b="1" dirty="0" smtClean="0">
                <a:solidFill>
                  <a:schemeClr val="bg1"/>
                </a:solidFill>
              </a:rPr>
              <a:t>Real-World Application</a:t>
            </a:r>
            <a:r>
              <a:rPr lang="en-US" sz="1000" dirty="0" smtClean="0">
                <a:solidFill>
                  <a:schemeClr val="bg1"/>
                </a:solidFill>
              </a:rPr>
              <a:t>: Deploying a model is a critical skill in </a:t>
            </a:r>
            <a:r>
              <a:rPr lang="en-US" sz="1000" b="1" dirty="0" smtClean="0">
                <a:solidFill>
                  <a:schemeClr val="bg1"/>
                </a:solidFill>
              </a:rPr>
              <a:t>Retail Analytics</a:t>
            </a:r>
            <a:r>
              <a:rPr lang="en-US" sz="1000" dirty="0" smtClean="0">
                <a:solidFill>
                  <a:schemeClr val="bg1"/>
                </a:solidFill>
              </a:rPr>
              <a:t>; it demonstrates how a business would actually use your tool to optimize "Inventory Management" and "Markdown Strategies" in real-time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0" y="41422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0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00" b="1" dirty="0" smtClean="0">
                <a:solidFill>
                  <a:schemeClr val="bg1"/>
                </a:solidFill>
              </a:rPr>
              <a:t>Persistence</a:t>
            </a:r>
            <a:r>
              <a:rPr lang="en-US" sz="1000" dirty="0" smtClean="0">
                <a:solidFill>
                  <a:schemeClr val="bg1"/>
                </a:solidFill>
              </a:rPr>
              <a:t>: By using the </a:t>
            </a:r>
            <a:r>
              <a:rPr lang="en-US" sz="1000" dirty="0" err="1" smtClean="0">
                <a:solidFill>
                  <a:schemeClr val="bg1"/>
                </a:solidFill>
              </a:rPr>
              <a:t>nohup</a:t>
            </a:r>
            <a:r>
              <a:rPr lang="en-US" sz="1000" dirty="0" smtClean="0">
                <a:solidFill>
                  <a:schemeClr val="bg1"/>
                </a:solidFill>
              </a:rPr>
              <a:t> command during deployment, your application stays running even after you close your computer or disconnect from the server.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4" name="Text 42"/>
          <p:cNvSpPr/>
          <p:nvPr/>
        </p:nvSpPr>
        <p:spPr>
          <a:xfrm>
            <a:off x="0" y="4552545"/>
            <a:ext cx="9144000" cy="4857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r>
              <a:rPr lang="en-US" sz="1050" b="1" dirty="0" smtClean="0"/>
              <a:t>Simple Example:</a:t>
            </a:r>
            <a:r>
              <a:rPr lang="en-US" sz="1050" dirty="0" smtClean="0"/>
              <a:t> </a:t>
            </a:r>
            <a:r>
              <a:rPr lang="en-US" sz="1050" dirty="0" smtClean="0"/>
              <a:t>Think </a:t>
            </a:r>
            <a:r>
              <a:rPr lang="en-US" sz="1050" dirty="0" smtClean="0"/>
              <a:t>like a movie </a:t>
            </a:r>
            <a:r>
              <a:rPr lang="en-US" sz="1050" dirty="0" smtClean="0"/>
              <a:t>we </a:t>
            </a:r>
            <a:r>
              <a:rPr lang="en-US" sz="1050" dirty="0" smtClean="0"/>
              <a:t>filmed. Keeping it on </a:t>
            </a:r>
            <a:r>
              <a:rPr lang="en-US" sz="1050" dirty="0" smtClean="0"/>
              <a:t>our </a:t>
            </a:r>
            <a:r>
              <a:rPr lang="en-US" sz="1050" dirty="0" smtClean="0"/>
              <a:t>laptop is like having a file on </a:t>
            </a:r>
            <a:r>
              <a:rPr lang="en-US" sz="1050" dirty="0" smtClean="0"/>
              <a:t>our </a:t>
            </a:r>
            <a:r>
              <a:rPr lang="en-US" sz="1050" dirty="0" smtClean="0"/>
              <a:t>hard drive; </a:t>
            </a:r>
            <a:r>
              <a:rPr lang="en-US" sz="1050" b="1" dirty="0" smtClean="0"/>
              <a:t>AWS Deployment</a:t>
            </a:r>
            <a:r>
              <a:rPr lang="en-US" sz="1050" dirty="0" smtClean="0"/>
              <a:t> is like putting that movie on </a:t>
            </a:r>
            <a:r>
              <a:rPr lang="en-US" sz="1050" b="1" dirty="0" smtClean="0"/>
              <a:t>Netflix, Amazon, Z5 </a:t>
            </a:r>
            <a:r>
              <a:rPr lang="en-US" sz="1050" dirty="0" smtClean="0"/>
              <a:t> </a:t>
            </a:r>
            <a:r>
              <a:rPr lang="en-US" sz="1050" dirty="0" smtClean="0"/>
              <a:t>so the whole world can watch it.</a:t>
            </a:r>
            <a:endParaRPr lang="en-US" sz="1050" dirty="0"/>
          </a:p>
        </p:txBody>
      </p:sp>
      <p:sp>
        <p:nvSpPr>
          <p:cNvPr id="48" name="Text 3"/>
          <p:cNvSpPr/>
          <p:nvPr/>
        </p:nvSpPr>
        <p:spPr>
          <a:xfrm>
            <a:off x="0" y="972766"/>
            <a:ext cx="9144000" cy="173152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endParaRPr lang="en-US" sz="1200" dirty="0" smtClean="0"/>
          </a:p>
          <a:p>
            <a:r>
              <a:rPr lang="en-US" sz="1200" dirty="0" smtClean="0"/>
              <a:t>In  </a:t>
            </a:r>
            <a:r>
              <a:rPr lang="en-US" sz="1200" dirty="0" smtClean="0"/>
              <a:t>retail project, </a:t>
            </a:r>
            <a:r>
              <a:rPr lang="en-US" sz="1200" b="1" dirty="0" smtClean="0"/>
              <a:t>AWS Deployment</a:t>
            </a:r>
            <a:r>
              <a:rPr lang="en-US" sz="1200" dirty="0" smtClean="0"/>
              <a:t> is the final stage where </a:t>
            </a:r>
            <a:r>
              <a:rPr lang="en-US" sz="1200" dirty="0" smtClean="0"/>
              <a:t>we </a:t>
            </a:r>
            <a:r>
              <a:rPr lang="en-US" sz="1200" dirty="0" smtClean="0"/>
              <a:t>move </a:t>
            </a:r>
            <a:r>
              <a:rPr lang="en-US" sz="1200" dirty="0" smtClean="0"/>
              <a:t>the </a:t>
            </a:r>
            <a:r>
              <a:rPr lang="en-US" sz="1200" dirty="0" smtClean="0"/>
              <a:t>application from </a:t>
            </a:r>
            <a:r>
              <a:rPr lang="en-US" sz="1200" dirty="0" smtClean="0"/>
              <a:t>the </a:t>
            </a:r>
            <a:r>
              <a:rPr lang="en-US" sz="1200" dirty="0" smtClean="0"/>
              <a:t>local computer to Amazon’s cloud servers to make it accessible to </a:t>
            </a:r>
            <a:r>
              <a:rPr lang="en-US" sz="1200" dirty="0" smtClean="0"/>
              <a:t>others.</a:t>
            </a:r>
          </a:p>
          <a:p>
            <a:endParaRPr lang="en-US" sz="1200" dirty="0" smtClean="0"/>
          </a:p>
          <a:p>
            <a:r>
              <a:rPr lang="en-US" sz="1200" dirty="0" smtClean="0"/>
              <a:t>It is the process of hosting </a:t>
            </a:r>
            <a:r>
              <a:rPr lang="en-US" sz="1200" dirty="0" err="1" smtClean="0"/>
              <a:t>Streamlit</a:t>
            </a:r>
            <a:r>
              <a:rPr lang="en-US" sz="1200" dirty="0" smtClean="0"/>
              <a:t> </a:t>
            </a:r>
            <a:r>
              <a:rPr lang="en-US" sz="1200" dirty="0" smtClean="0"/>
              <a:t>application on </a:t>
            </a:r>
            <a:r>
              <a:rPr lang="en-US" sz="1200" b="1" dirty="0" smtClean="0"/>
              <a:t>Amazon Web Services (AWS)</a:t>
            </a:r>
            <a:r>
              <a:rPr lang="en-US" sz="1200" dirty="0" smtClean="0"/>
              <a:t>, specifically using an </a:t>
            </a:r>
            <a:r>
              <a:rPr lang="en-US" sz="1200" b="1" dirty="0" smtClean="0"/>
              <a:t>EC2 (Elastic Compute Cloud)</a:t>
            </a:r>
            <a:r>
              <a:rPr lang="en-US" sz="1200" dirty="0" smtClean="0"/>
              <a:t> instance</a:t>
            </a:r>
            <a:r>
              <a:rPr lang="en-US" sz="1200" dirty="0" smtClean="0"/>
              <a:t>.</a:t>
            </a:r>
          </a:p>
          <a:p>
            <a:endParaRPr lang="en-US" sz="1200" dirty="0" smtClean="0"/>
          </a:p>
          <a:p>
            <a:r>
              <a:rPr lang="en-US" sz="1200" dirty="0" smtClean="0"/>
              <a:t>It involves setting up a virtual server in the cloud, installing the necessary Python libraries </a:t>
            </a:r>
            <a:r>
              <a:rPr lang="en-US" sz="1200" dirty="0" smtClean="0"/>
              <a:t>(</a:t>
            </a:r>
            <a:r>
              <a:rPr lang="en-US" sz="1200" dirty="0" err="1" smtClean="0"/>
              <a:t>PyTorch</a:t>
            </a:r>
            <a:r>
              <a:rPr lang="en-US" sz="1200" dirty="0" smtClean="0"/>
              <a:t>, </a:t>
            </a:r>
            <a:r>
              <a:rPr lang="en-US" sz="1200" dirty="0" smtClean="0"/>
              <a:t>Pandas, </a:t>
            </a:r>
            <a:r>
              <a:rPr lang="en-US" sz="1200" dirty="0" err="1" smtClean="0"/>
              <a:t>Streamlit</a:t>
            </a:r>
            <a:r>
              <a:rPr lang="en-US" sz="1200" dirty="0" smtClean="0"/>
              <a:t>), and running the app using a background process like </a:t>
            </a:r>
            <a:r>
              <a:rPr lang="en-US" sz="1200" dirty="0" err="1" smtClean="0"/>
              <a:t>nohup</a:t>
            </a:r>
            <a:r>
              <a:rPr lang="en-US" sz="1200" dirty="0" smtClean="0"/>
              <a:t>.</a:t>
            </a:r>
          </a:p>
          <a:p>
            <a:endParaRPr lang="en-US" sz="1200" dirty="0" smtClean="0"/>
          </a:p>
          <a:p>
            <a:r>
              <a:rPr lang="en-US" sz="1200" dirty="0" smtClean="0"/>
              <a:t>The goal is to transform </a:t>
            </a:r>
            <a:r>
              <a:rPr lang="en-US" sz="1200" dirty="0" smtClean="0"/>
              <a:t>the </a:t>
            </a:r>
            <a:r>
              <a:rPr lang="en-US" sz="1200" dirty="0" smtClean="0"/>
              <a:t>local code into a live web URL that anyone can visit to see </a:t>
            </a:r>
            <a:r>
              <a:rPr lang="en-US" sz="1200" dirty="0" smtClean="0"/>
              <a:t>the </a:t>
            </a:r>
            <a:r>
              <a:rPr lang="en-US" sz="1200" dirty="0" smtClean="0"/>
              <a:t>sales forecasts and markdown insights.</a:t>
            </a:r>
          </a:p>
          <a:p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Deployment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1828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(Mumbai Region) + Streamlit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1325880" cy="1737360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46304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" y="199339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Browser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28600" y="2359152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device worldwide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54480" y="2194560"/>
            <a:ext cx="15544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09928" y="1371600"/>
            <a:ext cx="1325880" cy="1737360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09928" y="146304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09928" y="199339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URL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709928" y="2359152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900" dirty="0" smtClean="0">
                <a:solidFill>
                  <a:schemeClr val="bg1"/>
                </a:solidFill>
              </a:rPr>
              <a:t>http://13.206.129.155:8501/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035808" y="2194560"/>
            <a:ext cx="15544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91256" y="1371600"/>
            <a:ext cx="1325880" cy="1737360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91256" y="146304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191256" y="199339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191256" y="2359152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8501 open to 0.0.0.0/0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17136" y="2194560"/>
            <a:ext cx="15544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72584" y="1371600"/>
            <a:ext cx="1325880" cy="1737360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72584" y="146304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672584" y="199339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t3.micro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72584" y="2359152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22.04 LTS Mumbai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98464" y="2194560"/>
            <a:ext cx="15544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53912" y="1371600"/>
            <a:ext cx="1325880" cy="1737360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53912" y="146304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153912" y="199339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53912" y="2359152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nohup background process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79792" y="2194560"/>
            <a:ext cx="15544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35240" y="1371600"/>
            <a:ext cx="1325880" cy="1737360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35240" y="146304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635240" y="199339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ANN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635240" y="2359152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Scalers loaded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Steps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74320" y="3703320"/>
            <a:ext cx="4572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70332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Launch EC2 t3.micro (Ubuntu 22.04) in ap-south-1 (Mumbai)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4320" y="3977640"/>
            <a:ext cx="4572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97764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Configure Security Group — open port 8501 for public access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74320" y="4251960"/>
            <a:ext cx="4572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425196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Install Python venv, PyTorch (CPU), Streamlit, scikit-learn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74320" y="4526280"/>
            <a:ext cx="4572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52628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Download model files via gdown from Google Drive to EC2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74320" y="4800600"/>
            <a:ext cx="4572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80060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Launch: nohup streamlit run app.py --server.port 8501 --server.address 0.0.0.0 &amp;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0" y="960120"/>
            <a:ext cx="45720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0" y="9601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</a:t>
            </a:r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http://13.206.129.155:8501/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2788920" cy="154183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00200"/>
            <a:ext cx="278892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002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EDA &amp; Insights Tab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interactive visualizations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trends over time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impact charts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correlation analysis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600200"/>
            <a:ext cx="2788920" cy="154183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600200"/>
            <a:ext cx="278892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6002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Prediction Tab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83280" y="228600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sales prediction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store, dept, date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markdown values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flag toggle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2788920" cy="154183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600200"/>
            <a:ext cx="278892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6002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Batch Results Tab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55080" y="228600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test set evaluation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/ RMSE / R² metrics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 chart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table</a:t>
            </a:r>
            <a:endParaRPr lang="en-US" sz="1150" dirty="0"/>
          </a:p>
        </p:txBody>
      </p:sp>
      <p:sp>
        <p:nvSpPr>
          <p:cNvPr id="24" name="Text 7"/>
          <p:cNvSpPr/>
          <p:nvPr/>
        </p:nvSpPr>
        <p:spPr>
          <a:xfrm>
            <a:off x="136187" y="3142034"/>
            <a:ext cx="8870653" cy="18579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100" dirty="0" smtClean="0"/>
              <a:t> </a:t>
            </a:r>
            <a:r>
              <a:rPr lang="en-US" sz="1100" dirty="0" smtClean="0"/>
              <a:t>      The </a:t>
            </a:r>
            <a:r>
              <a:rPr lang="en-US" sz="1100" b="1" dirty="0" err="1" smtClean="0"/>
              <a:t>Streamlit</a:t>
            </a:r>
            <a:r>
              <a:rPr lang="en-US" sz="1100" b="1" dirty="0" smtClean="0"/>
              <a:t> Dashboard</a:t>
            </a:r>
            <a:r>
              <a:rPr lang="en-US" sz="1100" dirty="0" smtClean="0"/>
              <a:t> acts as the user interface that allows non-technical users to interact with </a:t>
            </a:r>
            <a:r>
              <a:rPr lang="en-US" sz="1100" dirty="0" smtClean="0"/>
              <a:t>our </a:t>
            </a:r>
            <a:r>
              <a:rPr lang="en-US" sz="1100" dirty="0" smtClean="0"/>
              <a:t>Artificial Neural Network (ANN) and visualize sales forecasts without needing to look at code</a:t>
            </a:r>
            <a:r>
              <a:rPr lang="en-US" sz="11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sz="1200" b="1" u="sng" dirty="0" smtClean="0">
                <a:solidFill>
                  <a:schemeClr val="accent1">
                    <a:lumMod val="75000"/>
                  </a:schemeClr>
                </a:solidFill>
              </a:rPr>
              <a:t>Description </a:t>
            </a:r>
            <a:r>
              <a:rPr lang="en-US" sz="1200" b="1" u="sng" dirty="0" smtClean="0">
                <a:solidFill>
                  <a:schemeClr val="accent1">
                    <a:lumMod val="75000"/>
                  </a:schemeClr>
                </a:solidFill>
              </a:rPr>
              <a:t>of </a:t>
            </a:r>
            <a:r>
              <a:rPr lang="en-US" sz="1200" b="1" u="sng" dirty="0" err="1" smtClean="0">
                <a:solidFill>
                  <a:schemeClr val="accent1">
                    <a:lumMod val="75000"/>
                  </a:schemeClr>
                </a:solidFill>
              </a:rPr>
              <a:t>Streamlit</a:t>
            </a:r>
            <a:r>
              <a:rPr lang="en-US" sz="1200" b="1" u="sng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200" b="1" u="sng" dirty="0" smtClean="0">
                <a:solidFill>
                  <a:schemeClr val="accent1">
                    <a:lumMod val="75000"/>
                  </a:schemeClr>
                </a:solidFill>
              </a:rPr>
              <a:t>Dashboard</a:t>
            </a:r>
            <a:endParaRPr lang="en-US" sz="1100" b="1" dirty="0" smtClean="0"/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100" dirty="0" smtClean="0"/>
              <a:t>   It </a:t>
            </a:r>
            <a:r>
              <a:rPr lang="en-US" sz="1100" dirty="0" smtClean="0"/>
              <a:t>is an interactive web application built with Python that serves as the "face" of </a:t>
            </a:r>
            <a:r>
              <a:rPr lang="en-US" sz="1100" dirty="0" smtClean="0"/>
              <a:t>the </a:t>
            </a:r>
            <a:r>
              <a:rPr lang="en-US" sz="1100" dirty="0" smtClean="0"/>
              <a:t>retail project, hosted on </a:t>
            </a:r>
            <a:r>
              <a:rPr lang="en-US" sz="1100" b="1" dirty="0" smtClean="0"/>
              <a:t>AWS</a:t>
            </a:r>
            <a:r>
              <a:rPr lang="en-US" sz="1100" dirty="0" smtClean="0"/>
              <a:t> for easy accessibility</a:t>
            </a:r>
            <a:r>
              <a:rPr lang="en-US" sz="1100" dirty="0" smtClean="0"/>
              <a:t>.</a:t>
            </a:r>
            <a:endParaRPr lang="en-US" sz="1100" dirty="0" smtClean="0"/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100" dirty="0" smtClean="0"/>
              <a:t>   The </a:t>
            </a:r>
            <a:r>
              <a:rPr lang="en-US" sz="1100" dirty="0" smtClean="0"/>
              <a:t>dashboard allows users to input specific variables—like a store number or a markdown amount—and see real-time sales predictions generated by the </a:t>
            </a:r>
            <a:r>
              <a:rPr lang="en-US" sz="1100" b="1" dirty="0" smtClean="0"/>
              <a:t>ANN</a:t>
            </a:r>
            <a:r>
              <a:rPr lang="en-US" sz="1100" dirty="0" smtClean="0"/>
              <a:t>.</a:t>
            </a:r>
            <a:endParaRPr lang="en-US" sz="1100" dirty="0" smtClean="0"/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100" dirty="0" smtClean="0"/>
              <a:t>   It </a:t>
            </a:r>
            <a:r>
              <a:rPr lang="en-US" sz="1100" dirty="0" smtClean="0"/>
              <a:t>transforms complex data into visual reports using charts and metrics, helping managers make "actionable decisions" on </a:t>
            </a:r>
            <a:r>
              <a:rPr lang="en-US" sz="1100" dirty="0" smtClean="0"/>
              <a:t>inventory, </a:t>
            </a:r>
            <a:r>
              <a:rPr lang="en-US" sz="1100" dirty="0" smtClean="0"/>
              <a:t>holiday planning.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64008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078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Markdown Timing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" y="1389888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MarkDown1 promotions 2 weeks before major holidays — data shows this maximizes uplift in sales by up to 35% during holiday weeks.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90872" y="100584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90872" y="1005840"/>
            <a:ext cx="64008" cy="1170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55464" y="1078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Inventory Planning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55464" y="1389888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4-week and 13-week rolling average predictions to pre-stock high-demand departments (especially Dept 92 &amp; 95) before holiday seasons.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00584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1005840"/>
            <a:ext cx="64008" cy="11704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1078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Store Strategy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3192" y="1389888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stores generate 3x revenue of Type C — prioritize markdown investments in Type A stores for maximum ROI on promotions.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90872" y="233172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90872" y="2331720"/>
            <a:ext cx="64008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55464" y="24048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Resource Allocation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55464" y="2715768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ANN forecast to schedule staffing 1-2 weeks in advance — predicted high-sales weeks should see 20-30% more floor staff.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233172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33172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24048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Markdown Optimization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3192" y="2715768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blanket markdowns — model shows MarkDown2 &amp; MarkDown4 have minimal sales impact. Focus budget on MarkDown1 and MarkDown3.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90872" y="233172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90872" y="2331720"/>
            <a:ext cx="64008" cy="11704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55464" y="24048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Continuous Learning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55464" y="2715768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the ANN quarterly with new sales data to maintain model freshness and capture evolving consumer trends.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8600" y="3657600"/>
            <a:ext cx="866851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28600" y="3657600"/>
            <a:ext cx="64008" cy="1170432"/>
          </a:xfrm>
          <a:prstGeom prst="rect">
            <a:avLst/>
          </a:prstGeom>
          <a:solidFill>
            <a:srgbClr val="7030A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" y="3730752"/>
            <a:ext cx="8394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 smtClean="0">
                <a:solidFill>
                  <a:srgbClr val="7030A0"/>
                </a:solidFill>
              </a:rPr>
              <a:t>💡 Key </a:t>
            </a:r>
            <a:r>
              <a:rPr lang="en-US" sz="1200" b="1" dirty="0" smtClean="0">
                <a:solidFill>
                  <a:srgbClr val="7030A0"/>
                </a:solidFill>
              </a:rPr>
              <a:t>Insights</a:t>
            </a:r>
            <a:endParaRPr lang="en-US" sz="1200" b="1" dirty="0" smtClean="0">
              <a:solidFill>
                <a:srgbClr val="7030A0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393192" y="4050792"/>
            <a:ext cx="83941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 smtClean="0"/>
              <a:t> </a:t>
            </a:r>
            <a:r>
              <a:rPr lang="en-US" sz="1000" dirty="0" smtClean="0"/>
              <a:t>                                                                           1. Holiday </a:t>
            </a:r>
            <a:r>
              <a:rPr lang="en-US" sz="1000" dirty="0" smtClean="0"/>
              <a:t>weeks generate ~30% higher average sales than regular weeks</a:t>
            </a:r>
          </a:p>
          <a:p>
            <a:r>
              <a:rPr lang="en-US" sz="1000" dirty="0" smtClean="0"/>
              <a:t>                                                                            2. Lag </a:t>
            </a:r>
            <a:r>
              <a:rPr lang="en-US" sz="1000" dirty="0" smtClean="0"/>
              <a:t>features (1-week, 4-week) are the strongest predictors in the </a:t>
            </a:r>
            <a:r>
              <a:rPr lang="en-US" sz="1000" dirty="0" smtClean="0"/>
              <a:t>ANN</a:t>
            </a:r>
          </a:p>
          <a:p>
            <a:r>
              <a:rPr lang="en-US" sz="1000" dirty="0" smtClean="0"/>
              <a:t>                                                                            3.  Applying markdowns 2 weeks before holidays maximizes sales uplift</a:t>
            </a:r>
          </a:p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14B8A6">
              <a:alpha val="10000"/>
            </a:srgbClr>
          </a:solidFill>
          <a:ln w="12700">
            <a:solidFill>
              <a:srgbClr val="14B8A6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200400" y="187452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57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Retail Sales Forecasting with PyTorch &amp; AWS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45920" y="274320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2743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Stores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49040" y="274320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2743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421K Records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0" y="274320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2743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Features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45920" y="333756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3337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ANN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49040" y="333756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3337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0" y="333756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3337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| HCL  —  Retail Analytics Domain  —  MDT47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1984</Words>
  <Application>Microsoft Office PowerPoint</Application>
  <PresentationFormat>On-screen Show (16:9)</PresentationFormat>
  <Paragraphs>314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 Retail Sales Forecasting</dc:title>
  <dc:subject>PptxGenJS Presentation</dc:subject>
  <dc:creator>GUVI HCL Project</dc:creator>
  <cp:lastModifiedBy>rc</cp:lastModifiedBy>
  <cp:revision>24</cp:revision>
  <dcterms:created xsi:type="dcterms:W3CDTF">2026-04-10T21:10:55Z</dcterms:created>
  <dcterms:modified xsi:type="dcterms:W3CDTF">2026-04-14T19:14:09Z</dcterms:modified>
</cp:coreProperties>
</file>